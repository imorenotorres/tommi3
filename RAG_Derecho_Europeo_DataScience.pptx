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645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  <a:latin typeface="Calibri"/>
              </a:rPr>
              <a:t>* * * * * * * * * * * 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RAG aplicado al Derecho Europeo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D600"/>
                </a:solidFill>
                <a:latin typeface="Calibri"/>
              </a:rPr>
              <a:t>para estudiantes de Ciencia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Retrieval-Augmented Generation  |  Aprendizaje activo  |  Normativa vigente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  <a:latin typeface="Calibri"/>
              </a:rPr>
              <a:t>* * * * * * * * * * * 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 que Derecho Europeo para Ciencia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3749039" cy="5349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RGPD (2016/679)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93392"/>
            <a:ext cx="3529583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Base legal de todo proyecto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que use datos personales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Consentimiento, anonimizacion,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minimizacion de datos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Multas hasta 4% facturacion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global o 20 M 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34440"/>
            <a:ext cx="3749039" cy="5349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49039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26187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 Act (2024/1689)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993392"/>
            <a:ext cx="3529583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- 1a regulacion mundial de la IA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por nivel de riesgo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Obligaciones para sistemas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de alto riesgo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Prohibiciones absolutas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En vigor agosto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3749039" cy="5349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749039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6187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Act / DGA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993392"/>
            <a:ext cx="3529583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Acceso a datos industriales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y dispositivos IoT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Gobernanza: intermediarios,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altruismo de datos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Espacios europeos de datos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- Datos abiertos del sector publico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Que es RAG y por que es ideal para el Derecho?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945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4475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Documentos
legales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71600"/>
            <a:ext cx="21945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44475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Busqueda
semantica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371600"/>
            <a:ext cx="21945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44475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LLM genera
respuesta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21945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44475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Respuesta
citada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11430000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47A1"/>
                </a:solidFill>
                <a:latin typeface="Calibri"/>
              </a:rPr>
              <a:t>Por que RAG es perfecto para derecho?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685032"/>
            <a:ext cx="11210544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[OK]  Cita las fuentes: el estudiante puede verificar en el texto original del reglamento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[OK]  Respuestas actualizadas: si la norma cambia, basta actualizar el documento base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[OK]  No alucina articulos: el modelo solo usa lo que esta en el corpus legal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[OK]  Diferencia versiones: RGPD vs AI Act vs Data Act sin confundirlos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37474F"/>
                </a:solidFill>
                <a:latin typeface="Calibri"/>
              </a:rPr>
              <a:t>[OK]  Adaptable por asignatura: privacidad, gobernanza, etica, seguridad...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Corpus legal: normativa europea relevante para datos 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2834640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" y="1197864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170432"/>
            <a:ext cx="1097280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1197864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 vigor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70432"/>
            <a:ext cx="7955279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97864"/>
            <a:ext cx="7845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Relevancia para Ciencia de 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8346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161848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RGPD (2016/679)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572768"/>
            <a:ext cx="109728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161848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572768"/>
            <a:ext cx="7955279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618488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Proteccion datos personales. Base de todo tratamiento de datos.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21408"/>
            <a:ext cx="2834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" y="2167127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AI Act (2024/1689)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12140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3824" y="2167127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121408"/>
            <a:ext cx="79552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2167127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Regulacion de sistemas IA por nivel de riesgo (prohibido / alto / limitado / minimo).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670048"/>
            <a:ext cx="28346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271576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Data Governance 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670048"/>
            <a:ext cx="109728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63824" y="271576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70048"/>
            <a:ext cx="7955279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4" y="2715768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Gobernanza: intermediarios de datos, altruismo, reutilizacion datos publicos.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218688"/>
            <a:ext cx="2834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" y="326440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Data Act (2023/2854)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1868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3824" y="326440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218688"/>
            <a:ext cx="79552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3264408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Acceso a datos generados por IoT. Portabilidad y comparticion industrial.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767328"/>
            <a:ext cx="28346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" y="381304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Directiva NIS2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767328"/>
            <a:ext cx="109728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63824" y="38130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767328"/>
            <a:ext cx="7955279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6824" y="3813048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Ciberseguridad de entidades esenciales e importantes. Notificacion de incidentes.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315968"/>
            <a:ext cx="2834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4361688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ePrivacy (propuesta)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431596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4" y="436168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Pendiente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4315968"/>
            <a:ext cx="795527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06824" y="4361688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Privacidad en comunicaciones: cookies, metadatos, comunicaciones M2M.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864607"/>
            <a:ext cx="28346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" y="4910327"/>
            <a:ext cx="2724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Regl. Europeo de Chips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4864607"/>
            <a:ext cx="109728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63824" y="4910327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2023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4864607"/>
            <a:ext cx="7955279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6824" y="4910327"/>
            <a:ext cx="7845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Soberania tecnologica: produccion de semiconductores en Europa.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Casos de uso: que puede hacer el estudiante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760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Consulta legal interactiva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Pregunta: 'Necesito consentimiento explicito para entrenar un modelo con datos de clientes?'
-&gt; El RAG localiza el articulo 6 RGPD y explica las bases legales disponibles.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760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7607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4358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Analisis de escenario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El sistema genera un supuesto real (empresa, dataset, pais) y el estudiante
determina que normativa aplica y que obligaciones conlleva.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5760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57607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58183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Comparador de normas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Pregunta: 'En que se diferencia el RGPD del AI Act para sistemas de deteccion facial?'
-&gt; Respuesta estructurada citando ambos reglamentos con referencias exactas.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03320"/>
            <a:ext cx="5760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03320"/>
            <a:ext cx="57607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58183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Generador de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Dado un proyecto de ML descrito por el estudiante, el RAG genera
un checklist de cumplimiento normativo con referencias a articulos especificos.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29184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29184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Corpus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92224"/>
            <a:ext cx="307238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RGPD (EUR-Lex PDF)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AI Act (texto consolidado)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Data Act / DGA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NIS2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Sentencias relevantes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Guias AEPD / EDPB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Considerandos + articulos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188720"/>
            <a:ext cx="448056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188720"/>
            <a:ext cx="44805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2161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Pipeline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792224"/>
            <a:ext cx="426110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- 1. Chunking por articulo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 (preserva estructura legal)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- 2. Embeddings multilingue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 (paraphrase-multilingual)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- 3. Vector store (ChromaDB)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- 4. Retrieval semantico top-k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- 5. Prompt con contexto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 + historial conversacion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- 6. LLM genera respuesta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 citando articulo y norma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188720"/>
            <a:ext cx="3383280" cy="5394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1188720"/>
            <a:ext cx="338328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216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Interfaz estudiante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7" y="1792224"/>
            <a:ext cx="316382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Chat conversacional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Fuentes citadas en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cada respuesta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Ejercicios con correccion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automatica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Progreso por norma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LLM-as-judge: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  responde del corpus?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7474F"/>
                </a:solidFill>
                <a:latin typeface="Calibri"/>
              </a:rPr>
              <a:t>- Integracion Moodle LTI 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661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5661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-&gt;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Como aprende el estudiante?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11612880" cy="16276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2743200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3502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Nivel 1 - Consulta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313432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  <a:latin typeface="Calibri"/>
              </a:rPr>
              <a:t>[VERDE] Exploracion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426463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4F"/>
                </a:solidFill>
                <a:latin typeface="Calibri"/>
              </a:rPr>
              <a:t>El estudiante pregunta libremente sobre la normativa.
El sistema responde citando el articulo exacto.
Ideal para resolver dudas de clase o TFG.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99232"/>
            <a:ext cx="11612880" cy="16276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99232"/>
            <a:ext cx="2743200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07238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Nivel 2 - Escenario guiado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050791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  <a:latin typeface="Calibri"/>
              </a:rPr>
              <a:t>[AMARILLO] Aplicacion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63824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4F"/>
                </a:solidFill>
                <a:latin typeface="Calibri"/>
              </a:rPr>
              <a:t>Se presenta un caso real: empresa, tipo de datos, pais.
El estudiante determina que norma aplica y por que.
El RAG evalua el razonamiento con LLM-as-judge.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736592"/>
            <a:ext cx="11612880" cy="16276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736592"/>
            <a:ext cx="2743200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809744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Nivel 3 - Caso abierto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788152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  <a:latin typeface="Calibri"/>
              </a:rPr>
              <a:t>[ROJO] Analisis critico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901183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4F"/>
                </a:solidFill>
                <a:latin typeface="Calibri"/>
              </a:rPr>
              <a:t>El estudiante disenha un proyecto de ML completo.
Identifica riesgos, obligaciones y medidas tecnicas.
El tutor genera feedback estructurado por seccion.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645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  <a:latin typeface="Calibri"/>
              </a:rPr>
              <a:t>* * * * * * * * * * * 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039112"/>
            <a:ext cx="9198864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1.  Seleccionar asignatura piloto (Privacidad, Etica IA, Gobernanza de datos...)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2.  Construir corpus: RGPD + AI Act + guias EDPB en EUR-Lex (open access)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3.  Adaptar la arquitectura RAG existente (base_RAGagent.py)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4.  Disenar banco de casos practicos por norma y nivel de complejidad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5.  Integrar via LTI 1.3 en el Moodle de la asignatura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6.  Evaluacion con LLM-as-judge: responde del corpus o alucina?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D600"/>
                </a:solidFill>
                <a:latin typeface="Calibri"/>
              </a:rPr>
              <a:t>Con que asignatura empezamos?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  <a:latin typeface="Calibri"/>
              </a:rPr>
              <a:t>* * * * * * * * * * * 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